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152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91440" cy="36576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Predicting Employee Turnover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517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AACCFF"/>
                </a:solidFill>
                <a:latin typeface="Calibri"/>
              </a:rPr>
              <a:t>An HR Data Analysis of 14,999 Employee Records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8AADD"/>
                </a:solidFill>
                <a:latin typeface="Calibri"/>
              </a:rPr>
              <a:t>Identifying the drivers of employee churn using Python, SQL &amp; data visualization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72000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Brenda Murillo  &amp;  Lucinda Piña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2920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AADD"/>
                </a:solidFill>
                <a:latin typeface="Calibri"/>
              </a:rPr>
              <a:t>California State University, Bakersfield  |  Data Analysis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Problem Statement &amp;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Calibri"/>
              </a:rPr>
              <a:t>Why do employees leave — and who is at risk right now?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5669280" cy="2194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435607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7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Employee turnover costs 50–200% of a departing employee's annual salary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1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Most organizations respond reactively — only after employees resign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5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HR signals are collected but rarely analyzed jointly or proactively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4319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This project flags at-risk employees BEFORE they decide to leave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657600"/>
            <a:ext cx="566928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376732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The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1148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Dataset: HR Employee Retention (Kaggle) — 14,999 simulated records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43484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Features: satisfaction, evaluation, projects, hours, tenure, salary, promotion, accidents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5488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Target variable: left (1 = resigned, 0 = still employed)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07492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Overall turnover rate: 23.81%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325880"/>
            <a:ext cx="5623560" cy="43434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Research Questions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9202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1.  What factors most strongly predict whether
    an employee will leave?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6974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2.  Do overworked or underpaid employees
    leave at higher rates?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47472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3.  Can we identify current employees who are
    at high risk of churning?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25196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4.  What actionable changes could reduce
    turnover in the most vulnerable groups?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Brenda Murillo &amp; Lucinda Piña  |  CSUB  |  HR Employee Churn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Methodology &amp;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Calibri"/>
              </a:rPr>
              <a:t>A reproducible, SQL-driven pipeline from raw CSV to actionable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371600"/>
            <a:ext cx="2148840" cy="25603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4173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392B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20116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Data Loading
&amp; Exploration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51760"/>
            <a:ext cx="2057400" cy="1188720"/>
          </a:xfrm>
          <a:prstGeom prst="rect">
            <a:avLst/>
          </a:prstGeom>
          <a:solidFill>
            <a:srgbClr val="2C4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Calibri"/>
              </a:rPr>
              <a:t>Loaded 14,999 records
Inspected types &amp; distributions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3774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371600"/>
            <a:ext cx="2148840" cy="25603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14173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392B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0116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Data Cleaning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2651760"/>
            <a:ext cx="2057400" cy="1188720"/>
          </a:xfrm>
          <a:prstGeom prst="rect">
            <a:avLst/>
          </a:prstGeom>
          <a:solidFill>
            <a:srgbClr val="2C4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Calibri"/>
              </a:rPr>
              <a:t>Handled missing values
Validated ranges &amp; 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3774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1371600"/>
            <a:ext cx="2148840" cy="25603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83480" y="14173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392B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20116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Database Design
&amp; SQL Queries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2651760"/>
            <a:ext cx="2057400" cy="1188720"/>
          </a:xfrm>
          <a:prstGeom prst="rect">
            <a:avLst/>
          </a:prstGeom>
          <a:solidFill>
            <a:srgbClr val="2C4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Calibri"/>
              </a:rPr>
              <a:t>Normalized to 4 SQLite tables
Ran targeted SQL aggregations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3774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1371600"/>
            <a:ext cx="2148840" cy="25603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0920" y="14173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392B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20116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Visualization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06640" y="2651760"/>
            <a:ext cx="2057400" cy="1188720"/>
          </a:xfrm>
          <a:prstGeom prst="rect">
            <a:avLst/>
          </a:prstGeom>
          <a:solidFill>
            <a:srgbClr val="2C4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Calibri"/>
              </a:rPr>
              <a:t>4 charts showing key
factor relationships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23774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38360" y="1371600"/>
            <a:ext cx="2148840" cy="25603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38360" y="14173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392B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8360" y="20116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Risk Profiling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84080" y="2651760"/>
            <a:ext cx="2057400" cy="1188720"/>
          </a:xfrm>
          <a:prstGeom prst="rect">
            <a:avLst/>
          </a:prstGeom>
          <a:solidFill>
            <a:srgbClr val="2C4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Calibri"/>
              </a:rPr>
              <a:t>Identified 615 at-risk
employees still employed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" y="4160520"/>
            <a:ext cx="11521440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4251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Calibri"/>
              </a:rPr>
              <a:t>Tools Used: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20240" y="4279392"/>
            <a:ext cx="2331720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93392" y="430682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Python (pandas, matplotlib)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0" y="4279392"/>
            <a:ext cx="2331720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62272" y="430682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SQLite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0" y="4279392"/>
            <a:ext cx="2331720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31152" y="430682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Jupyter Notebook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26880" y="4279392"/>
            <a:ext cx="2331720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00032" y="430682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Claude Code (AI-assisted)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8600" y="5303520"/>
            <a:ext cx="11521440" cy="118872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3675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Database Schema — 4 Normalized Tables: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57332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salary_levels  ·  employees  ·  performance_records  ·  employment_events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605332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PK/FK integrity enforced  ·  CHECK constraints on satisfaction &amp; evaluation (0–1 range)  ·  Boolean event typing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Brenda Murillo &amp; Lucinda Piña  |  CSUB  |  HR Employee Churn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Finding 1: Turnover Rate &amp; Salary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Calibri"/>
              </a:rPr>
              <a:t>Low-salary employees leave at nearly 4.5× the rate of high-salary employees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2560320" cy="10972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23.81%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0574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Overall Turnover 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371600"/>
            <a:ext cx="2560320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14630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3,571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0574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Employees Who Left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1371600"/>
            <a:ext cx="2560320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4630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14,999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0574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Total Employees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1371600"/>
            <a:ext cx="3383280" cy="1097280"/>
          </a:xfrm>
          <a:prstGeom prst="rect">
            <a:avLst/>
          </a:prstGeom>
          <a:solidFill>
            <a:srgbClr val="276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46304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6.6%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05740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High-Salary Turnover</a:t>
            </a:r>
          </a:p>
        </p:txBody>
      </p:sp>
      <p:pic>
        <p:nvPicPr>
          <p:cNvPr id="18" name="Picture 17" descr="fig_bar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11612880" cy="387096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Brenda Murillo &amp; Lucinda Piña  |  CSUB  |  HR Employee Churn Analysis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Finding 2: Satisfaction &amp; Feature Correlations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Calibri"/>
              </a:rPr>
              <a:t>Satisfaction is the single strongest predictor of turnover (r = −0.388)</a:t>
            </a:r>
          </a:p>
        </p:txBody>
      </p:sp>
      <p:pic>
        <p:nvPicPr>
          <p:cNvPr id="6" name="Picture 5" descr="ch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" y="1371600"/>
            <a:ext cx="4926061" cy="3657600"/>
          </a:xfrm>
          <a:prstGeom prst="rect">
            <a:avLst/>
          </a:prstGeom>
        </p:spPr>
      </p:pic>
      <p:pic>
        <p:nvPicPr>
          <p:cNvPr id="7" name="Picture 6" descr="fig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371600"/>
            <a:ext cx="4315522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243584" y="5138928"/>
            <a:ext cx="4928616" cy="12984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0744" y="5248656"/>
            <a:ext cx="46542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Satisfaction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5596128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Employees who LEFT averaged satisfaction of 0.44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5870448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Employees who STAYED averaged satisfaction of 0.667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6144768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Difference: −0.227 points — a 34% gap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0" y="5138928"/>
            <a:ext cx="4937760" cy="12984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524865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Correlation Ranking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5596128"/>
            <a:ext cx="4617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Satisfaction: r = −0.388 (strongest predictor of leaving)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5870448"/>
            <a:ext cx="4617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Tenure: r = +0.145  |  Avg Hours: r = +0.071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6144768"/>
            <a:ext cx="4617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Evaluation score and project count: near-zero effect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Brenda Murillo &amp; Lucinda Piña  |  CSUB  |  HR Employee Churn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High-Risk Profiling &amp;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Calibri"/>
              </a:rPr>
              <a:t>615 current employees match the highest-risk profile — and can be supported before they leave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5303520" cy="10972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3560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High-Risk Profile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1051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Satisfaction &lt; 0.40  ·  Salary = Low  ·  No promotion in last 5 years  ·  Still employed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371600"/>
            <a:ext cx="2743200" cy="10972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14630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615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0574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High-Risk Employees
Still at the 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371600"/>
            <a:ext cx="3108960" cy="1097280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146304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~220 hrs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057400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Avg Monthly Hours
(top risk employees)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651760"/>
            <a:ext cx="5303520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67919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Emp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67919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Satisfaction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267919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Avg Hrs/Mo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267919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Tenure (yrs)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999232"/>
            <a:ext cx="530352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302666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2087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02666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0.12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02666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59" y="302666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28415"/>
            <a:ext cx="53035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335584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3129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335584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0.12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335584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59" y="335584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657599"/>
            <a:ext cx="530352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6850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4684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36850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0.12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36850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276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59" y="36850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986783"/>
            <a:ext cx="53035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4014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8745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014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0.12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4014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287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59" y="4014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315968"/>
            <a:ext cx="530352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43434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13280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43434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0.12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80360" y="43434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191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59" y="43434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" y="469087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† Showing top 5 of 615 high-risk employees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52160" y="2743200"/>
            <a:ext cx="6035040" cy="288036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89320" y="285292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Recommendations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0" y="3200400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Conduct 1-on-1 check-ins with 615 flagged employees immediately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474720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Review salary bands — low-salary employees leave at 4.5× the rate of high earners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0" y="3749039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Establish promotion reviews for employees with 3+ years and no advancement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0" y="4023359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Monitor workload — leavers worked ~8 more hours/month on average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0" y="4297679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Build an early-warning HR dashboard from the high-risk SQL query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Brenda Murillo &amp; Lucinda Piña  |  CSUB  |  HR Employee Churn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