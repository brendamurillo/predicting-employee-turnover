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91440" cy="3657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Predicting Employee Turnover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CCFF"/>
                </a:solidFill>
                <a:latin typeface="Calibri"/>
              </a:rPr>
              <a:t>An HR Data Analysis of 14,999 Employee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AADD"/>
                </a:solidFill>
                <a:latin typeface="Calibri"/>
              </a:rPr>
              <a:t>Identifying the drivers of employee churn using Python, SQL &amp; data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Brenda Murillo  &amp;  Lucinda Piña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AADD"/>
                </a:solidFill>
                <a:latin typeface="Calibri"/>
              </a:rPr>
              <a:t>California State University, Bakersfield  |  Data Analysis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Statement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Calibri"/>
              </a:rPr>
              <a:t>Why do employees leave — and who is at risk right now?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66928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3560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7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Employee turnover costs 50–200% of a departing employee's annual salary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39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Most organizations respond reactively — only after employees resign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1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HR signals are collected but rarely analyzed jointly or proactively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3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This project flags at-risk employees BEFORE they decide to leave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566928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7673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The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Dataset: HR Employee Retention (Kaggle) — 14,999 simulated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Features: satisfaction, evaluation, projects, hours, tenure, salary, promotion, accidents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6344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Target variable: left (1 = resigned, 0 = still employed)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5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Overall turnover rate: 23.81%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325880"/>
            <a:ext cx="5623560" cy="43434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Research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202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1.  What factors most strongly predict whether
    an employee will leave?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974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2.  Do overworked or underpaid employees
    leave at higher rates?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4747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3.  Can we identify current employees who are
    at high risk of churning?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519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4.  What actionable changes could reduce
    turnover in the most vulnerable groups?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Brenda Murillo &amp; Lucinda Piña  |  CSUB  |  HR Employee Churn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Methodology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Calibri"/>
              </a:rPr>
              <a:t>A reproducible, SQL-driven pipeline from raw CSV to actionable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2148840" cy="2560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4173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392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011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 Loading
&amp; Exploration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51760"/>
            <a:ext cx="2057400" cy="1188720"/>
          </a:xfrm>
          <a:prstGeom prst="rect">
            <a:avLst/>
          </a:prstGeom>
          <a:solidFill>
            <a:srgbClr val="2C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69748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Calibri"/>
              </a:rPr>
              <a:t>Loaded 14,999 records
Inspected types &amp; distributions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377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371600"/>
            <a:ext cx="2148840" cy="2560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4173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392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011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 Cleaning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651760"/>
            <a:ext cx="2057400" cy="1188720"/>
          </a:xfrm>
          <a:prstGeom prst="rect">
            <a:avLst/>
          </a:prstGeom>
          <a:solidFill>
            <a:srgbClr val="2C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69748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Calibri"/>
              </a:rPr>
              <a:t>Handled missing values
Validated ranges &amp;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77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1371600"/>
            <a:ext cx="2148840" cy="2560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4173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392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011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Database Design
&amp; SQL Queries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651760"/>
            <a:ext cx="2057400" cy="1188720"/>
          </a:xfrm>
          <a:prstGeom prst="rect">
            <a:avLst/>
          </a:prstGeom>
          <a:solidFill>
            <a:srgbClr val="2C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69748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Calibri"/>
              </a:rPr>
              <a:t>Normalized to 4 SQLite tables
Ran targeted SQL aggregations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377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1371600"/>
            <a:ext cx="2148840" cy="2560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14173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392B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011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Visualization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651760"/>
            <a:ext cx="2057400" cy="1188720"/>
          </a:xfrm>
          <a:prstGeom prst="rect">
            <a:avLst/>
          </a:prstGeom>
          <a:solidFill>
            <a:srgbClr val="2C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269748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Calibri"/>
              </a:rPr>
              <a:t>4 charts showing key
factor relationships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377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60" y="1371600"/>
            <a:ext cx="2148840" cy="2560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14173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392B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011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Risk Profiling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2651760"/>
            <a:ext cx="2057400" cy="1188720"/>
          </a:xfrm>
          <a:prstGeom prst="rect">
            <a:avLst/>
          </a:prstGeom>
          <a:solidFill>
            <a:srgbClr val="2C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269748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Calibri"/>
              </a:rPr>
              <a:t>Identified 615 at-risk
employees still employed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160520"/>
            <a:ext cx="1152144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251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Tools Used: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20240" y="4279392"/>
            <a:ext cx="2331720" cy="34747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93392" y="43068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 (pandas, matplotlib)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4279392"/>
            <a:ext cx="2331720" cy="34747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2272" y="43068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4279392"/>
            <a:ext cx="2331720" cy="34747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31152" y="43068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Jupyter Notebook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4279392"/>
            <a:ext cx="2331720" cy="34747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43068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Claude Code (AI-assisted)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5303520"/>
            <a:ext cx="11521440" cy="11887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367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Database Schema — 4 Normalized Tables: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7332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salary_levels  ·  employees  ·  performance_records  ·  employment_events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0533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PK/FK integrity enforced  ·  CHECK constraints on satisfaction &amp; evaluation (0–1 range)  ·  Boolean event typing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Brenda Murillo &amp; Lucinda Piña  |  CSUB  |  HR Employee Churn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Finding 1: Turnover Rate &amp; Salary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Calibri"/>
              </a:rPr>
              <a:t>Low-salary employees leave at nearly 4.5× the rate of high-salary employees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56032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23.81%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057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F"/>
                </a:solidFill>
                <a:latin typeface="Calibri"/>
              </a:rPr>
              <a:t>Overall Turnover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371600"/>
            <a:ext cx="2560320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463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3,571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057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F"/>
                </a:solidFill>
                <a:latin typeface="Calibri"/>
              </a:rPr>
              <a:t>Employees Who Left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371600"/>
            <a:ext cx="2560320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463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14,999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057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F"/>
                </a:solidFill>
                <a:latin typeface="Calibri"/>
              </a:rPr>
              <a:t>Total Employees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371600"/>
            <a:ext cx="3383280" cy="1097280"/>
          </a:xfrm>
          <a:prstGeom prst="rect">
            <a:avLst/>
          </a:prstGeom>
          <a:solidFill>
            <a:srgbClr val="27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4630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6.6%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0574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F"/>
                </a:solidFill>
                <a:latin typeface="Calibri"/>
              </a:rPr>
              <a:t>High-Salary Turnover</a:t>
            </a:r>
          </a:p>
        </p:txBody>
      </p:sp>
      <p:pic>
        <p:nvPicPr>
          <p:cNvPr id="18" name="Picture 17" descr="fig_bar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11612880" cy="3870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Brenda Murillo &amp; Lucinda Piña  |  CSUB  |  HR Employee Churn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Finding 2: Satisfaction &amp; Feature Correlations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Calibri"/>
              </a:rPr>
              <a:t>Satisfaction is the single strongest predictor of turnover (r = −0.388)</a:t>
            </a:r>
          </a:p>
        </p:txBody>
      </p:sp>
      <p:pic>
        <p:nvPicPr>
          <p:cNvPr id="6" name="Picture 5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1371600"/>
            <a:ext cx="4926061" cy="3657600"/>
          </a:xfrm>
          <a:prstGeom prst="rect">
            <a:avLst/>
          </a:prstGeom>
        </p:spPr>
      </p:pic>
      <p:pic>
        <p:nvPicPr>
          <p:cNvPr id="7" name="Picture 6" descr="fig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371600"/>
            <a:ext cx="4315522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43584" y="5138928"/>
            <a:ext cx="4928616" cy="12984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0744" y="5248656"/>
            <a:ext cx="4654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Satisfaction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5596128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Employees who LEFT averaged satisfaction of 0.44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5870448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Employees who STAYED averaged satisfaction of 0.667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6144768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Difference: −0.227 points — a 34% 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5138928"/>
            <a:ext cx="4937760" cy="12984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52486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Correlation 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5596128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Satisfaction: r = −0.388 (strongest predictor of leaving)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5870448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Tenure: r = +0.145  |  Avg Hours: r = +0.071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6144768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Evaluation score and project count: near-zero effect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Brenda Murillo &amp; Lucinda Piña  |  CSUB  |  HR Employee Churn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High-Risk Profiling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Calibri"/>
              </a:rPr>
              <a:t>615 current employees match the highest-risk profile — and can be supported before they leave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0352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High-Risk Profile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Satisfaction &lt; 0.40  ·  Salary = Low  ·  No promotion in last 5 years  ·  Still employed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371600"/>
            <a:ext cx="27432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615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057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F"/>
                </a:solidFill>
                <a:latin typeface="Calibri"/>
              </a:rPr>
              <a:t>High-Risk Employees
Still at the Company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371600"/>
            <a:ext cx="3108960" cy="109728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4630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~220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0574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F"/>
                </a:solidFill>
                <a:latin typeface="Calibri"/>
              </a:rPr>
              <a:t>Avg Monthly Hours
(top risk employees)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51760"/>
            <a:ext cx="5303520" cy="34747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6791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Emp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67919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Satisfaction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67919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Avg Hrs/Mo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267919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Tenure (yrs)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99232"/>
            <a:ext cx="530352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02666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2087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02666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0.12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02666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244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302666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28415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35584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3129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35584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0.12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35584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257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335584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657599"/>
            <a:ext cx="530352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6850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4684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36850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0.12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6850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276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59" y="36850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86783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014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8745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4014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0.12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014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287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59" y="4014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315968"/>
            <a:ext cx="530352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343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13280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4343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0.12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4343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191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59" y="4343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46908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† Showing top 5 of 615 high-risk employees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52160" y="2743200"/>
            <a:ext cx="6035040" cy="28803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89320" y="285292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Recommendations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3200400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Conduct 1-on-1 check-ins with 615 flagged employees immediately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474720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Review salary bands — low-salary employees leave at 4.5× the rate of high earners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749039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Establish promotion reviews for employees with 3+ years and no advancement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023359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Monitor workload — leavers worked ~8 more hours/month on average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4297679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Build an early-warning HR dashboard from the high-risk SQL query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Brenda Murillo &amp; Lucinda Piña  |  CSUB  |  HR Employee Churn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